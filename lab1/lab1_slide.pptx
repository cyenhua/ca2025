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68" r:id="rId16"/>
    <p:sldId id="269" r:id="rId17"/>
    <p:sldId id="270" r:id="rId1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R8+sDEPpkSRLmUsVDivCJiT+e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188BF8-44DA-4047-9685-B08CF7A2E1D7}">
  <a:tblStyle styleId="{C7188BF8-44DA-4047-9685-B08CF7A2E1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74"/>
  </p:normalViewPr>
  <p:slideViewPr>
    <p:cSldViewPr snapToGrid="0">
      <p:cViewPr varScale="1">
        <p:scale>
          <a:sx n="81" d="100"/>
          <a:sy n="81" d="100"/>
        </p:scale>
        <p:origin x="14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:notes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:notes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586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解壓縮變成一個directory</a:t>
            </a:r>
            <a:endParaRPr/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Debug問的時候規範</a:t>
            </a:r>
            <a:endParaRPr/>
          </a:p>
        </p:txBody>
      </p:sp>
      <p:sp>
        <p:nvSpPr>
          <p:cNvPr id="246" name="Google Shape;246;p13:notes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4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解壓縮變成一個directory</a:t>
            </a:r>
            <a:endParaRPr/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Debug問的時候規範</a:t>
            </a:r>
            <a:endParaRPr/>
          </a:p>
        </p:txBody>
      </p:sp>
      <p:sp>
        <p:nvSpPr>
          <p:cNvPr id="254" name="Google Shape;254;p14:notes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5:notes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0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5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7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3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9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4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40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1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41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41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1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1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clab.ca.ta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"/>
          <p:cNvSpPr/>
          <p:nvPr/>
        </p:nvSpPr>
        <p:spPr>
          <a:xfrm>
            <a:off x="685800" y="1122480"/>
            <a:ext cx="7771680" cy="23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Georgia"/>
                <a:ea typeface="Georgia"/>
                <a:cs typeface="Georgia"/>
                <a:sym typeface="Georgia"/>
              </a:rPr>
              <a:t>Lab 1</a:t>
            </a:r>
            <a:endParaRPr sz="6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143000" y="3602160"/>
            <a:ext cx="6857280" cy="165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 Single Cycle CPU by Verilog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Georgia"/>
              <a:sym typeface="Georgia"/>
            </a:endParaRPr>
          </a:p>
          <a:p>
            <a:pPr algn="ctr"/>
            <a:r>
              <a:rPr lang="fr-FR" altLang="zh-TW" sz="1600" b="1" dirty="0"/>
              <a:t>Contact: </a:t>
            </a:r>
            <a:r>
              <a:rPr lang="fr-FR" altLang="zh-TW" sz="1600" b="1" dirty="0">
                <a:hlinkClick r:id="rId3"/>
              </a:rPr>
              <a:t>eclab.ca.ta@gmail.com</a:t>
            </a:r>
            <a:endParaRPr lang="fr-FR" altLang="zh-TW" sz="1600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Data Path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160" y="1407600"/>
            <a:ext cx="7464960" cy="523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Hardware Specification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228600" marR="0" lvl="0" indent="-22787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Register file: 32 registers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879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Instruction Memory: 1KB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879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Your program should read “machine code” rather than “assembly code”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879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Machine code: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" name="Google Shape;132;p3"/>
          <p:cNvGraphicFramePr/>
          <p:nvPr/>
        </p:nvGraphicFramePr>
        <p:xfrm>
          <a:off x="1097280" y="4475160"/>
          <a:ext cx="6664700" cy="387725"/>
        </p:xfrm>
        <a:graphic>
          <a:graphicData uri="http://schemas.openxmlformats.org/drawingml/2006/table">
            <a:tbl>
              <a:tblPr>
                <a:noFill/>
                <a:tableStyleId>{C7188BF8-44DA-4047-9685-B08CF7A2E1D7}</a:tableStyleId>
              </a:tblPr>
              <a:tblGrid>
                <a:gridCol w="145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funct7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funct3</a:t>
                      </a:r>
                      <a:endParaRPr sz="1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opcode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" name="Google Shape;133;p3"/>
          <p:cNvGraphicFramePr/>
          <p:nvPr/>
        </p:nvGraphicFramePr>
        <p:xfrm>
          <a:off x="1097280" y="5721840"/>
          <a:ext cx="6664675" cy="387725"/>
        </p:xfrm>
        <a:graphic>
          <a:graphicData uri="http://schemas.openxmlformats.org/drawingml/2006/table">
            <a:tbl>
              <a:tblPr>
                <a:noFill/>
                <a:tableStyleId>{C7188BF8-44DA-4047-9685-B08CF7A2E1D7}</a:tableStyleId>
              </a:tblPr>
              <a:tblGrid>
                <a:gridCol w="249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immediate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funct3</a:t>
                      </a:r>
                      <a:endParaRPr sz="1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opcode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4" name="Google Shape;134;p3"/>
          <p:cNvSpPr/>
          <p:nvPr/>
        </p:nvSpPr>
        <p:spPr>
          <a:xfrm>
            <a:off x="1468080" y="481320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[31:25]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2748240" y="481320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[24:20]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3697200" y="484596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[19:15]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5463000" y="4843800"/>
            <a:ext cx="73692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[11:7]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6692400" y="4845960"/>
            <a:ext cx="72648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[6:0]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5463000" y="6130440"/>
            <a:ext cx="73692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[11:7]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692400" y="6132600"/>
            <a:ext cx="72648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[6:0]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548240" y="484596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[14:12]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3697200" y="613260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[19:15]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548240" y="613260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[14:12]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1984320" y="6132600"/>
            <a:ext cx="87876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bits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[31:20]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7988400" y="4474440"/>
            <a:ext cx="8604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R-type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8073720" y="5723280"/>
            <a:ext cx="7887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I-type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Instructions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228600" marR="0" lvl="0" indent="-22787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Required Instruction Set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rs2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(bitwise and)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xor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rs2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(bitwise exclusive or)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sll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rs2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(shift left logically)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rs2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(addition)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sub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rs2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(subtraction)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mul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rs2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(multiplication)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addi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imm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(addition)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srai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rs1,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imm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(shift right arithmetically)</a:t>
            </a:r>
          </a:p>
          <a:p>
            <a:pPr marL="685800" marR="0" lvl="1" indent="-22787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lang="en-US" sz="2400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Georgia" panose="02040502050405020303" pitchFamily="18" charset="0"/>
                <a:cs typeface="Courier New" panose="02070309020205020404" pitchFamily="49" charset="0"/>
              </a:rPr>
              <a:t>(all 0, TB will terminate once received this0</a:t>
            </a:r>
            <a:endParaRPr sz="2400" i="0" u="none" strike="noStrike" cap="none" dirty="0">
              <a:solidFill>
                <a:schemeClr val="dk1"/>
              </a:solidFill>
              <a:latin typeface="Georgia" panose="02040502050405020303" pitchFamily="18" charset="0"/>
              <a:cs typeface="Courier New" panose="02070309020205020404" pitchFamily="49" charset="0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Input Format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08360" y="1690560"/>
            <a:ext cx="7478280" cy="3929760"/>
          </a:xfrm>
          <a:prstGeom prst="rect">
            <a:avLst/>
          </a:prstGeom>
          <a:noFill/>
          <a:ln w="12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0000000_00000_00000_000_01000_0110011 //add  $t0,$0,$0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000000001010_00000_000_01001_0010011  //addi $t1,$0,10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000000001101_00000_000_01010_0010011  //addi $t2,$0,13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0000001_01001_01001_000_01011_0110011 //mul  $t3,$t1,$t1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000000000001_01001_000_01001_0010011  //addi $t1,$t1,1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0100000_01001_01010_000_01010_0110011 //sub  $t2,$t2,$t1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0000000_01010_01001_111_01011_0110011 //and  $t3,$t1,$t2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08360" y="4325040"/>
            <a:ext cx="7478280" cy="2010240"/>
          </a:xfrm>
          <a:prstGeom prst="rect">
            <a:avLst/>
          </a:prstGeom>
          <a:noFill/>
          <a:ln w="126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00000000000000000000010000110011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00000000101000000000010010010011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00000000110100000000010100010011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00000010100101001000010110110011 00000000000101001000010010010011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01000000100101010000010100110011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00000000101001001111010110110011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539120" y="2453760"/>
            <a:ext cx="111960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Input file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533360" y="4900680"/>
            <a:ext cx="1875600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What machine actually reads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Modules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301120" y="2083680"/>
            <a:ext cx="1668240" cy="5479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testbench.v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572000" y="2083680"/>
            <a:ext cx="1188000" cy="5479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rgbClr val="AC5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CPU.v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698160" y="29304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Control.v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698160" y="81936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Adder.v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698160" y="134064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PC.v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698160" y="187668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Instruction_Memory.v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698160" y="241452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4271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Registers.v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698160" y="295236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MUX32.v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698160" y="349020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Sign_Extend.v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698160" y="402804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ALU.v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6"/>
          <p:cNvCxnSpPr/>
          <p:nvPr/>
        </p:nvCxnSpPr>
        <p:spPr>
          <a:xfrm>
            <a:off x="3969720" y="2357640"/>
            <a:ext cx="602280" cy="252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2" name="Google Shape;182;p6"/>
          <p:cNvCxnSpPr/>
          <p:nvPr/>
        </p:nvCxnSpPr>
        <p:spPr>
          <a:xfrm rot="10800000" flipH="1">
            <a:off x="5760720" y="986760"/>
            <a:ext cx="937080" cy="137088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3" name="Google Shape;183;p6"/>
          <p:cNvCxnSpPr/>
          <p:nvPr/>
        </p:nvCxnSpPr>
        <p:spPr>
          <a:xfrm rot="10800000" flipH="1">
            <a:off x="5760720" y="1508400"/>
            <a:ext cx="937080" cy="84924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" name="Google Shape;184;p6"/>
          <p:cNvCxnSpPr/>
          <p:nvPr/>
        </p:nvCxnSpPr>
        <p:spPr>
          <a:xfrm rot="10800000" flipH="1">
            <a:off x="5760720" y="2044080"/>
            <a:ext cx="937080" cy="31356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5" name="Google Shape;185;p6"/>
          <p:cNvCxnSpPr/>
          <p:nvPr/>
        </p:nvCxnSpPr>
        <p:spPr>
          <a:xfrm>
            <a:off x="5760720" y="2357640"/>
            <a:ext cx="937080" cy="22428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6" name="Google Shape;186;p6"/>
          <p:cNvCxnSpPr/>
          <p:nvPr/>
        </p:nvCxnSpPr>
        <p:spPr>
          <a:xfrm>
            <a:off x="5760720" y="2357640"/>
            <a:ext cx="937080" cy="76248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" name="Google Shape;187;p6"/>
          <p:cNvCxnSpPr/>
          <p:nvPr/>
        </p:nvCxnSpPr>
        <p:spPr>
          <a:xfrm>
            <a:off x="5760720" y="2357640"/>
            <a:ext cx="937080" cy="130032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8" name="Google Shape;188;p6"/>
          <p:cNvCxnSpPr/>
          <p:nvPr/>
        </p:nvCxnSpPr>
        <p:spPr>
          <a:xfrm>
            <a:off x="5760720" y="2357640"/>
            <a:ext cx="937080" cy="183816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320" y="2750040"/>
            <a:ext cx="5664960" cy="397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/>
          <p:nvPr/>
        </p:nvSpPr>
        <p:spPr>
          <a:xfrm>
            <a:off x="6698160" y="4565880"/>
            <a:ext cx="2056680" cy="334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ALU_Control.v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6"/>
          <p:cNvCxnSpPr/>
          <p:nvPr/>
        </p:nvCxnSpPr>
        <p:spPr>
          <a:xfrm>
            <a:off x="5760720" y="2357640"/>
            <a:ext cx="937080" cy="237600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6"/>
          <p:cNvCxnSpPr/>
          <p:nvPr/>
        </p:nvCxnSpPr>
        <p:spPr>
          <a:xfrm rot="10800000" flipH="1">
            <a:off x="5760720" y="460440"/>
            <a:ext cx="937080" cy="1897200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42800" y="-44280"/>
            <a:ext cx="168804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testbench.v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616360" y="-44280"/>
            <a:ext cx="8650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CPU.v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59600" y="4737240"/>
            <a:ext cx="3796920" cy="31032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8A6CB5-E733-484E-A25F-D00B71623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24" y="360601"/>
            <a:ext cx="4329791" cy="59959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ACE2A-990D-4346-9CE8-7871DBB07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941" y="360601"/>
            <a:ext cx="4329791" cy="51234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Control.v / ALU_Control.v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0" name="Google Shape;210;p8"/>
          <p:cNvGraphicFramePr/>
          <p:nvPr/>
        </p:nvGraphicFramePr>
        <p:xfrm>
          <a:off x="62280" y="3477240"/>
          <a:ext cx="9019150" cy="2880450"/>
        </p:xfrm>
        <a:graphic>
          <a:graphicData uri="http://schemas.openxmlformats.org/drawingml/2006/table">
            <a:tbl>
              <a:tblPr>
                <a:noFill/>
                <a:tableStyleId>{C7188BF8-44DA-4047-9685-B08CF7A2E1D7}</a:tableStyleId>
              </a:tblPr>
              <a:tblGrid>
                <a:gridCol w="128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8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8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funct7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funct3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opcode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xor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sll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0100000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rs2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mul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imm[11:0]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addi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0100000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imm[4:0]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0010011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srai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1" name="Google Shape;211;p8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56920" y="1393560"/>
            <a:ext cx="2634120" cy="1978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Reminder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28600" marR="0" lvl="0" indent="-22787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Lab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lang="en-US" sz="2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lang="en-US" sz="2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will be strongly related to this homework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879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This homework is rather simple, it is recommended that you get familiar with waveform visualization tool (e.g. gtkwave) in this homework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Submission Rule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6" name="Google Shape;226;p10"/>
          <p:cNvGraphicFramePr/>
          <p:nvPr>
            <p:extLst>
              <p:ext uri="{D42A27DB-BD31-4B8C-83A1-F6EECF244321}">
                <p14:modId xmlns:p14="http://schemas.microsoft.com/office/powerpoint/2010/main" val="3854872936"/>
              </p:ext>
            </p:extLst>
          </p:nvPr>
        </p:nvGraphicFramePr>
        <p:xfrm>
          <a:off x="628560" y="1825560"/>
          <a:ext cx="7886150" cy="2978922"/>
        </p:xfrm>
        <a:graphic>
          <a:graphicData uri="http://schemas.openxmlformats.org/drawingml/2006/table">
            <a:tbl>
              <a:tblPr>
                <a:noFill/>
                <a:tableStyleId>{C7188BF8-44DA-4047-9685-B08CF7A2E1D7}</a:tableStyleId>
              </a:tblPr>
              <a:tblGrid>
                <a:gridCol w="394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228600" marR="0" lvl="0" indent="-227879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Char char="•"/>
                      </a:pPr>
                      <a:r>
                        <a:rPr lang="en-US" sz="22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Source codes (</a:t>
                      </a:r>
                      <a:r>
                        <a:rPr lang="en-US" sz="22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*.v</a:t>
                      </a:r>
                      <a:r>
                        <a:rPr lang="en-US" sz="22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files)</a:t>
                      </a:r>
                      <a:endParaRPr sz="22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 err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CPU.v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…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28600" marR="0" lvl="0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MUST REMOVE</a:t>
                      </a:r>
                      <a:endParaRPr dirty="0"/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 err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testbench.v</a:t>
                      </a: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2000" b="0" u="none" strike="noStrike" cap="none" dirty="0" err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Instruction_Memory.v</a:t>
                      </a: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2000" b="0" u="none" strike="noStrike" cap="none" dirty="0" err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Registers.v</a:t>
                      </a: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2000" b="0" u="none" strike="noStrike" cap="none" dirty="0" err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PC.v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instruction.txt, output.txt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28600" marR="0" lvl="0" indent="-227879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Report (</a:t>
                      </a: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en-US" sz="2400" b="0" u="none" strike="noStrike" cap="none" dirty="0" err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student_ID</a:t>
                      </a: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&gt;_</a:t>
                      </a:r>
                      <a:r>
                        <a:rPr lang="en-US" sz="2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lab1</a:t>
                      </a: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_report.pdf</a:t>
                      </a: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)</a:t>
                      </a:r>
                      <a:endParaRPr sz="24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Development environment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Module implementation explanation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Either English or Chinese is fine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685800" marR="0" lvl="1" indent="-227879" algn="l" rtl="0">
                        <a:lnSpc>
                          <a:spcPct val="90000"/>
                        </a:lnSpc>
                        <a:spcBef>
                          <a:spcPts val="499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No more than 2 pages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7" name="Google Shape;227;p10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Module Explanation Example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28560" y="1967400"/>
            <a:ext cx="7142400" cy="14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 module reads clock signals, reset bit, start bit, and next cycle PC as input, and outputs the PC of current cycle. 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This module changes its internal register “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pc_o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” at positive edge of clock signal. When reset signal is set, PC is reset to 0. And PC will only be updated by next PC when start bit is on.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Module Explanation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2286000" y="1832040"/>
            <a:ext cx="4571280" cy="447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inputs of PC are clk_i, rst_i, start_i, pc_i, and ouput pc_o.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works as follows: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always@(posedge clk_i or negedge rst_i) begin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if(~rst_i) begin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pc_o &lt;= 32'b0;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end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begin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if(start_i)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pc_o &lt;= pc_i;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else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pc_o &lt;= pc_o;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end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1251000" y="503280"/>
            <a:ext cx="6012360" cy="7039440"/>
          </a:xfrm>
          <a:prstGeom prst="mathMultiply">
            <a:avLst>
              <a:gd name="adj1" fmla="val 1963"/>
            </a:avLst>
          </a:prstGeom>
          <a:solidFill>
            <a:srgbClr val="FF0000">
              <a:alpha val="60000"/>
            </a:srgbClr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Latch &amp; Area</a:t>
            </a:r>
            <a:endParaRPr sz="4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28560" y="1546986"/>
            <a:ext cx="7142400" cy="14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en-US" altLang="zh-TW" sz="1800" dirty="0"/>
              <a:t>You need to show all information regarding latches in ./log/synth.log. Latches synthesized from your code will result in a score deduction.</a:t>
            </a:r>
          </a:p>
          <a:p>
            <a:pPr lvl="0"/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parse.py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45F857-0726-47E6-8B40-03A7949EE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560" y="2865731"/>
            <a:ext cx="4334480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8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Submission Rule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228600" marR="0" lvl="0" indent="-22787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Submission format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8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student_ID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&gt;_</a:t>
            </a:r>
            <a:r>
              <a:rPr lang="en-US" sz="2400" dirty="0">
                <a:latin typeface="Consolas"/>
                <a:ea typeface="Consolas"/>
                <a:cs typeface="Consolas"/>
                <a:sym typeface="Consolas"/>
              </a:rPr>
              <a:t>lab1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7879" algn="l" rtl="0">
              <a:lnSpc>
                <a:spcPct val="8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student_ID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&gt;_</a:t>
            </a: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student_ID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&gt;_</a:t>
            </a: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_report.pdf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7879" algn="l" rtl="0">
              <a:lnSpc>
                <a:spcPct val="8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student_ID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&gt;_</a:t>
            </a: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lab1_/</a:t>
            </a:r>
            <a:r>
              <a:rPr lang="en-US" altLang="zh-TW" sz="2000" dirty="0" err="1"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/*.v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8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Pack the folder into a 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.zip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file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7879">
              <a:lnSpc>
                <a:spcPct val="80000"/>
              </a:lnSpc>
              <a:spcBef>
                <a:spcPts val="499"/>
              </a:spcBef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e.g. 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_lab1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.zip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7879" algn="l" rtl="0">
              <a:lnSpc>
                <a:spcPct val="8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Case sensitive (all alphabets being lower cases)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879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Deadline: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altLang="zh-TW" sz="2800" b="0" i="0" u="none" strike="noStrike" cap="none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r>
              <a:rPr lang="en-US" sz="28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/2025 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Mon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.) 23:59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879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Upload to </a:t>
            </a:r>
            <a:r>
              <a:rPr lang="en-US" sz="2800" b="0" i="0" u="none" strike="noStrike" cap="none" dirty="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NTU COOL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Directory Structure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628560" y="1689840"/>
            <a:ext cx="788616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72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We should see a single directory like following structure after we type </a:t>
            </a:r>
            <a:endParaRPr dirty="0"/>
          </a:p>
          <a:p>
            <a:pPr marL="72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$ unzip b13901053_</a:t>
            </a:r>
            <a:r>
              <a:rPr lang="en-US" sz="28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.zip</a:t>
            </a:r>
            <a:endParaRPr dirty="0"/>
          </a:p>
          <a:p>
            <a:pPr marL="72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 Linux terminal:</a:t>
            </a:r>
            <a:endParaRPr dirty="0"/>
          </a:p>
          <a:p>
            <a:pPr marL="1372320" lvl="3">
              <a:lnSpc>
                <a:spcPct val="90000"/>
              </a:lnSpc>
              <a:spcBef>
                <a:spcPts val="1001"/>
              </a:spcBef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endParaRPr dirty="0"/>
          </a:p>
          <a:p>
            <a:pPr marL="1372320" lvl="3">
              <a:lnSpc>
                <a:spcPct val="90000"/>
              </a:lnSpc>
              <a:spcBef>
                <a:spcPts val="1001"/>
              </a:spcBef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altLang="zh-TW" sz="2000" dirty="0" err="1">
                <a:latin typeface="Georgia"/>
                <a:ea typeface="Georgia"/>
                <a:cs typeface="Georgia"/>
                <a:sym typeface="Georgia"/>
              </a:rPr>
              <a:t>src</a:t>
            </a:r>
            <a:endParaRPr dirty="0"/>
          </a:p>
          <a:p>
            <a:pPr marL="1372320" lvl="3">
              <a:lnSpc>
                <a:spcPct val="90000"/>
              </a:lnSpc>
              <a:spcBef>
                <a:spcPts val="1001"/>
              </a:spcBef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altLang="zh-TW" sz="2000" dirty="0" err="1">
                <a:latin typeface="Georgia"/>
                <a:ea typeface="Georgia"/>
                <a:cs typeface="Georgia"/>
                <a:sym typeface="Georgia"/>
              </a:rPr>
              <a:t>src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CPU.v</a:t>
            </a:r>
            <a:endParaRPr sz="2000" b="0" i="0" u="none" strike="noStrike" cap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372320" lvl="3">
              <a:lnSpc>
                <a:spcPct val="90000"/>
              </a:lnSpc>
              <a:spcBef>
                <a:spcPts val="1001"/>
              </a:spcBef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altLang="zh-TW" sz="2000" dirty="0" err="1">
                <a:latin typeface="Georgia"/>
                <a:ea typeface="Georgia"/>
                <a:cs typeface="Georgia"/>
                <a:sym typeface="Georgia"/>
              </a:rPr>
              <a:t>src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ALU.v</a:t>
            </a:r>
            <a:endParaRPr sz="2000" b="0" i="0" u="none" strike="noStrike" cap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372320" marR="0" lvl="3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…</a:t>
            </a:r>
            <a:endParaRPr dirty="0"/>
          </a:p>
          <a:p>
            <a:pPr marL="1372320" lvl="3">
              <a:lnSpc>
                <a:spcPct val="90000"/>
              </a:lnSpc>
              <a:spcBef>
                <a:spcPts val="1001"/>
              </a:spcBef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/b</a:t>
            </a:r>
            <a:r>
              <a:rPr lang="en-US" altLang="zh-TW" sz="2000" dirty="0">
                <a:latin typeface="Georgia"/>
                <a:ea typeface="Georgia"/>
                <a:cs typeface="Georgia"/>
                <a:sym typeface="Georgia"/>
              </a:rPr>
              <a:t>13901053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lang="en-US" sz="2000" dirty="0">
                <a:latin typeface="Georgia"/>
                <a:ea typeface="Georgia"/>
                <a:cs typeface="Georgia"/>
                <a:sym typeface="Georgia"/>
              </a:rPr>
              <a:t>lab1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_report.pdf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Evaluation Criteria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Georgia"/>
                <a:ea typeface="Georgia"/>
                <a:cs typeface="Georgia"/>
                <a:sym typeface="Georgia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FFCB22-CF06-4657-90DA-7800D0744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5" y="2250420"/>
            <a:ext cx="6490477" cy="44704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03BB751-AB6B-45DB-A2C8-7987653EF456}"/>
              </a:ext>
            </a:extLst>
          </p:cNvPr>
          <p:cNvSpPr/>
          <p:nvPr/>
        </p:nvSpPr>
        <p:spPr>
          <a:xfrm>
            <a:off x="628561" y="1535951"/>
            <a:ext cx="76198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Submitting on time and checking the content of the submission are your responsibility. There will be no exceptions except under special circumstances.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917</Words>
  <Application>Microsoft Office PowerPoint</Application>
  <PresentationFormat>On-screen Show (4:3)</PresentationFormat>
  <Paragraphs>233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Consolas</vt:lpstr>
      <vt:lpstr>Courier New</vt:lpstr>
      <vt:lpstr>Georgia</vt:lpstr>
      <vt:lpstr>Times New Roman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Mike Tsai</dc:creator>
  <cp:lastModifiedBy>USER</cp:lastModifiedBy>
  <cp:revision>8</cp:revision>
  <dcterms:created xsi:type="dcterms:W3CDTF">2019-10-29T02:46:04Z</dcterms:created>
  <dcterms:modified xsi:type="dcterms:W3CDTF">2025-09-27T07:27:56Z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4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17</vt:i4>
  </property>
</Properties>
</file>